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dwell time (minutes)</c:v>
                </c:pt>
              </c:strCache>
            </c:strRef>
          </c:tx>
          <c:spPr>
            <a:solidFill>
              <a:srgbClr val="5B6B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A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32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7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Gig aggregator</c:v>
                  </c:pt>
                  <c:pt idx="1">
                    <c:v>Mule</c:v>
                  </c:pt>
                  <c:pt idx="2">
                    <c:v>Student</c:v>
                  </c:pt>
                  <c:pt idx="3">
                    <c:v>Salaried</c:v>
                  </c:pt>
                  <c:pt idx="4">
                    <c:v>Gig worker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146</c:v>
                </c:pt>
                <c:pt idx="1">
                  <c:v>181</c:v>
                </c:pt>
                <c:pt idx="2">
                  <c:v>240</c:v>
                </c:pt>
                <c:pt idx="3">
                  <c:v>243</c:v>
                </c:pt>
                <c:pt idx="4">
                  <c:v>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1A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740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b"/>
        <c:majorGridlines>
          <c:spPr>
            <a:ln w="9525" cap="flat">
              <a:solidFill>
                <a:srgbClr val="D9E0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Precision@200</c:v>
                </c:pt>
              </c:strCache>
            </c:strRef>
          </c:tx>
          <c:spPr>
            <a:solidFill>
              <a:srgbClr val="A8321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A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32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Rules baseline</c:v>
                  </c:pt>
                  <c:pt idx="1">
                    <c:v>GBM, 35 labels</c:v>
                  </c:pt>
                  <c:pt idx="2">
                    <c:v>Activity-only control</c:v>
                  </c:pt>
                  <c:pt idx="3">
                    <c:v>GBM + motifs</c:v>
                  </c:pt>
                  <c:pt idx="4">
                    <c:v>Community score</c:v>
                  </c:pt>
                  <c:pt idx="5">
                    <c:v>Community + chain depth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0.105</c:v>
                </c:pt>
                <c:pt idx="1">
                  <c:v>0.155</c:v>
                </c:pt>
                <c:pt idx="2">
                  <c:v>0.565</c:v>
                </c:pt>
                <c:pt idx="3">
                  <c:v>0.755</c:v>
                </c:pt>
                <c:pt idx="4">
                  <c:v>0.8</c:v>
                </c:pt>
                <c:pt idx="5">
                  <c:v>0.88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E1A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740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9525" cap="flat">
              <a:solidFill>
                <a:srgbClr val="D9E0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Network detector (no labels)</c:v>
                </c:pt>
              </c:strCache>
            </c:strRef>
          </c:tx>
          <c:spPr>
            <a:solidFill>
              <a:srgbClr val="0E7C6B"/>
            </a:solidFill>
            <a:ln w="38100" cap="flat">
              <a:solidFill>
                <a:srgbClr val="0E7C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7C6B"/>
              </a:solidFill>
              <a:ln w="9525" cap="flat">
                <a:solidFill>
                  <a:srgbClr val="0E7C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3.59%</c:v>
                  </c:pt>
                  <c:pt idx="1">
                    <c:v>2.01%</c:v>
                  </c:pt>
                  <c:pt idx="2">
                    <c:v>1.06%</c:v>
                  </c:pt>
                  <c:pt idx="3">
                    <c:v>0.60%</c:v>
                  </c:pt>
                  <c:pt idx="4">
                    <c:v>0.50%</c:v>
                  </c:pt>
                  <c:pt idx="5">
                    <c:v>0.43%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0.995</c:v>
                </c:pt>
                <c:pt idx="1">
                  <c:v>0.88</c:v>
                </c:pt>
                <c:pt idx="2">
                  <c:v>1</c:v>
                </c:pt>
                <c:pt idx="3">
                  <c:v>0.985</c:v>
                </c:pt>
                <c:pt idx="4">
                  <c:v>0.99</c:v>
                </c:pt>
                <c:pt idx="5">
                  <c:v>0.99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GBM (sparse labels)</c:v>
                </c:pt>
              </c:strCache>
            </c:strRef>
          </c:tx>
          <c:spPr>
            <a:solidFill>
              <a:srgbClr val="C8811A"/>
            </a:solidFill>
            <a:ln w="38100" cap="flat">
              <a:solidFill>
                <a:srgbClr val="C881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811A"/>
              </a:solidFill>
              <a:ln w="9525" cap="flat">
                <a:solidFill>
                  <a:srgbClr val="C881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3.59%</c:v>
                  </c:pt>
                  <c:pt idx="1">
                    <c:v>2.01%</c:v>
                  </c:pt>
                  <c:pt idx="2">
                    <c:v>1.06%</c:v>
                  </c:pt>
                  <c:pt idx="3">
                    <c:v>0.60%</c:v>
                  </c:pt>
                  <c:pt idx="4">
                    <c:v>0.50%</c:v>
                  </c:pt>
                  <c:pt idx="5">
                    <c:v>0.43%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0.91</c:v>
                </c:pt>
                <c:pt idx="1">
                  <c:v>0.875</c:v>
                </c:pt>
                <c:pt idx="2">
                  <c:v>0.82</c:v>
                </c:pt>
                <c:pt idx="3">
                  <c:v>0.565</c:v>
                </c:pt>
                <c:pt idx="4">
                  <c:v>0.555</c:v>
                </c:pt>
                <c:pt idx="5">
                  <c:v>0.655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Rules baseline</c:v>
                </c:pt>
              </c:strCache>
            </c:strRef>
          </c:tx>
          <c:spPr>
            <a:solidFill>
              <a:srgbClr val="A8321E"/>
            </a:solidFill>
            <a:ln w="38100" cap="flat">
              <a:solidFill>
                <a:srgbClr val="A832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321E"/>
              </a:solidFill>
              <a:ln w="9525" cap="flat">
                <a:solidFill>
                  <a:srgbClr val="A832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3.59%</c:v>
                  </c:pt>
                  <c:pt idx="1">
                    <c:v>2.01%</c:v>
                  </c:pt>
                  <c:pt idx="2">
                    <c:v>1.06%</c:v>
                  </c:pt>
                  <c:pt idx="3">
                    <c:v>0.60%</c:v>
                  </c:pt>
                  <c:pt idx="4">
                    <c:v>0.50%</c:v>
                  </c:pt>
                  <c:pt idx="5">
                    <c:v>0.43%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0.475</c:v>
                </c:pt>
                <c:pt idx="1">
                  <c:v>0.325</c:v>
                </c:pt>
                <c:pt idx="2">
                  <c:v>0.2</c:v>
                </c:pt>
                <c:pt idx="3">
                  <c:v>0.075</c:v>
                </c:pt>
                <c:pt idx="4">
                  <c:v>0.085</c:v>
                </c:pt>
                <c:pt idx="5">
                  <c:v>0.04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Arial"/>
                  </a:rPr>
                  <a:t>Mule base rate — more realistic to the right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740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9E0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740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Do not show anything on screen yet. The one-liner is the whole pitch: banks score accounts, mules only exist in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scale, then the human fact: mules are usually recruited victims. The SC order is three weeks old — it shows the regulator is moving toward exactly the intervention we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from the problem statement. Land the third one hardest — velocity is why 'flag and investigate'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'synthetic data is fake'. The answer is the confounders plus the fact that the detector is unsupervised.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finding that reshaped the whole feature layer. Mule dwell sits BETWEEN two legitimate populations — you cannot threshold your way out of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If they remember one sentence from the pitch, it should be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funnel is the proof of the idea. 0.4% of transfers keep 94% of mules.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 depth is the peel-chain typology appearing as pure graph structure. It is the payoff of enforcing time-ordering.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supervised model was demoted on evidence, not preference. With 35 labels it lost to a control using only transaction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SHAPE is the argument: baselines collapse as the problem gets realistic, ours stays flat. State the untested-below-0.43% caveat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mix these. If you claim real time while quoting 0.880 and someone notices, everything else becomes suspect.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tiers to the SC order: temporary debit holds are exactly this. Our design is where the regulator is already heading.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the policy objection, and it aligns with FREE-AI's Explainability and Accountability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without defensiveness. Volunteering limits is what separates a mature pitch from an overclaiming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human point.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BUILD$BANK  ·  YEL × IIT DELHI  ·  FRAUD DETECTION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 looks clean.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does not.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7947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Network-level mule account detection for UPI — real time, cross-institution, and trained on no fraud labels at all.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182880" cy="18288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4892040"/>
            <a:ext cx="182880" cy="18288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Shape 5"/>
          <p:cNvSpPr/>
          <p:nvPr/>
        </p:nvSpPr>
        <p:spPr>
          <a:xfrm>
            <a:off x="1636776" y="4892040"/>
            <a:ext cx="182880" cy="18288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8" name="Shape 6"/>
          <p:cNvSpPr/>
          <p:nvPr/>
        </p:nvSpPr>
        <p:spPr>
          <a:xfrm>
            <a:off x="2112264" y="4892040"/>
            <a:ext cx="182880" cy="182880"/>
          </a:xfrm>
          <a:prstGeom prst="ellipse">
            <a:avLst/>
          </a:prstGeom>
          <a:solidFill>
            <a:srgbClr val="3A5261"/>
          </a:solidFill>
          <a:ln/>
        </p:spPr>
      </p:sp>
      <p:sp>
        <p:nvSpPr>
          <p:cNvPr id="9" name="Shape 7"/>
          <p:cNvSpPr/>
          <p:nvPr/>
        </p:nvSpPr>
        <p:spPr>
          <a:xfrm>
            <a:off x="2587752" y="4892040"/>
            <a:ext cx="182880" cy="182880"/>
          </a:xfrm>
          <a:prstGeom prst="ellipse">
            <a:avLst/>
          </a:prstGeom>
          <a:solidFill>
            <a:srgbClr val="3A52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precision@200 held out   ·   14 of 14 networks   ·   zero labels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rupee stolen has to leave through a mule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mule account is real, KYC-compliant, and usually belongs to a student or daily-wage worker paid ₹2,000–5,000 for their credentials. Break the mule layer and you break the economics of every scam type at once.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6177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14032" y="18196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2.73 million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14032" y="22951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mule accounts shared by I4C with banks, Sept 2024 – Jan 2026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3108960"/>
            <a:ext cx="46177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14032" y="32369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₹9,518 crore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114032" y="37124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transactions blocked as a result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4526280"/>
            <a:ext cx="46177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14032" y="46542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Aug 2026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114032" y="51297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directs RBI to circulate a mule-account SOP within four weeks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 accounts are the physical infrastructure of digital fraud.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85800" y="4069080"/>
            <a:ext cx="5852160" cy="1920240"/>
          </a:xfrm>
          <a:prstGeom prst="roundRect">
            <a:avLst>
              <a:gd name="adj" fmla="val 2857"/>
            </a:avLst>
          </a:prstGeom>
          <a:solidFill>
            <a:srgbClr val="F2F5F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8408" y="4251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scam ends in the same place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8408" y="4709160"/>
            <a:ext cx="128016" cy="12801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scams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75888" y="4709160"/>
            <a:ext cx="128016" cy="12801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4645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8408" y="5257800"/>
            <a:ext cx="128016" cy="12801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5193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scams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75888" y="5257800"/>
            <a:ext cx="128016" cy="128016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5193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8408" y="5486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mule layer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I4C Suspect Registry figures; In Re: Victims of Digital Arrest, SMW (Crl) No. 3 of 2025, order dated 4 August 2026.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ISN'T SOLVED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reasons account-level detection cannot work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90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in isolation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015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KYC, small balance, no history. Nothing about one account trips a rule — the anomaly is the shape of the network around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4290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103120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2651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Layering defeats one bank's view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34015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are deliberately split across institutions. The evasion technique is the institutional boundary itself.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55864" y="1828800"/>
            <a:ext cx="34290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103120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0184" y="2651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loses to velocity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0184" y="340156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layered and withdrawn in minutes. Reports arrive days later. Confirming a mule after the fact is forensics on an empty account.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stopped scoring accounts and started scoring networks.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data honestly — including the hard cases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UPI data is unobtainable outside a regulated entity, so we generate it: 39,055 accounts, 5.4M transfers, 235 mules across 14 networks using four published typologies.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2F5F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that make it defensible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30632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 carry real cover traffic — they are real people's accounts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 labels exposed, delayed 3–11 days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Cash-out points where money leaves the banking system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confounders are the point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56248" y="30632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2,160 legitimate accounts deliberately shaped like mules: kirana shops on personal VPAs, rent and chit-fund collectors whose pass-through really is 1.0, gig fleet aggregators, informal lenders.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56248" y="4343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why our precision number means anything.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the labels. It is scored on structure it discovers, not on patterns it was told about.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mules look normal, every average stops working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mule realistic cover traffic — salary credits, shopping, friends — and it disappears from account-level statistics.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286000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2286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F2F5F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2668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of aggregate pass-through ratio — the feature our own problem statement led with.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coin flip.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26680" y="4663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feature is computed over a short window and reduced with an extreme — min, 10th percentile, peak. Never a mean.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25146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laundering graph is not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transfer graph.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42062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transfers where the receiver forwarded a comparable amount onward within fifteen minutes. That is what a layering hop is — and it is time-respecting by construction. Ordinary people keep what they receive, so cover traffic evaporates.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LAUNDERING SUBGRAPH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filter, a ninefold enrichment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2,117,193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transfers observed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87368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9,409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45152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flow-through filter (0.4%)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55864" y="182880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0184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 of 235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30184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 retained inside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2F5F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8408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purity of communities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43159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  →  0.81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78408" y="4983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score the community, not the account, and push the score to its members.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794760"/>
            <a:ext cx="5120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47688" y="39776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₹5,000 floor out loud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47688" y="4315968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₹20,000 floor gives a visibly cleaner graph — bought by silently deleting the entire smurfing typology, which uses sub-threshold ₹4,000–9,500 transfers.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features, no labels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 =  z(community score)  +  1.5 × z(chain depth)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697480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score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8408" y="3246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account's network laundering-shaped? A transparent weighted sum of z-scored community features: low dwell, low reciprocity, shared devices, fast flow-through, new accounts. Not a black box — this throttles people's accounts.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46888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47688" y="2697480"/>
            <a:ext cx="384048" cy="384048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depth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47688" y="32461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time-respecting path ending at an account. Legitimate fast-forwarding bottoms out at depth 2 — a rent collector receives, forwards, done. Layering chains run 3 to 6 deep.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47688" y="4709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 AUC — the strongest feature in the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account, never averaged into the community table — it describes position in a chain, and aggregating it dropped the score from 0.915 to 0.790.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label-free detector beats every supervised model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82880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82880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2F5F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7532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rules baseline's alerts are legitimate kirana shops and rent collectors.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0" y="3749040"/>
            <a:ext cx="3474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7532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75320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ours are — and it finds 14 of 14 networks using no fraud labels at all.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seed. Base rate 0.6%, k = 200, random selection scores 0.006. Across four seeds: 0.95 ± 0.07.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UP?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gets better as the problem gets harder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8745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87452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F2F5F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233×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45820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random at a 0.43% base rate — up from 28× at 3.6%.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83880" y="370332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5820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 ± 0.07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458200" y="4480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random seeds, full pipeline re-derived each time. 14 of 14 networks in every run.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 below 0.43% — that is our hardware ceiling, not a claim. Real UPI is nearer 0.1%.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ABOUT REAL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claims, three different numbers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uses the full window, so features can see the future. Fine for research, fatal for a real-time claim. So we split the timeline and rebuilt the score from past-only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10789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700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ranking finds mule networks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0" y="2560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955280" y="26883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full window, held-out seed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0789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840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 real time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0" y="37307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88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55280" y="3858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— past data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718304"/>
            <a:ext cx="10789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5010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accounts we would actually act 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0" y="490118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95528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154, of which 15 innocent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is worth 0.235. We report both rather than quoting the flattering one.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 response, because being wrong has a cost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 are frequently recruited victims. A binary freeze is the wrong output — and the data only supports two tiers, not the four we planned.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6400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14600" y="276148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outbound, require step-up verification, file STR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3560" y="2788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0.903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3886200"/>
            <a:ext cx="6400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8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Throttle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413308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per-transaction and daily outflow limits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800" y="5257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band between them clears 0.55 — the score is bimodal, so we present two tiers honestly rather than inventing a third.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2514600"/>
            <a:ext cx="4023360" cy="2606040"/>
          </a:xfrm>
          <a:prstGeom prst="roundRect">
            <a:avLst>
              <a:gd name="adj" fmla="val 2105"/>
            </a:avLst>
          </a:prstGeom>
          <a:solidFill>
            <a:srgbClr val="F2F5F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6680" y="2743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726680" y="3520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proceeds intercepted while still inside the layering window.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6680" y="4297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54–78% across four seeds. We quote the range, not the best run.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RBI's draft SOP before the Supreme Court concerns temporary debit holds on mule-linked accounts — the same graded intervention.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signals cross the boundary. Customer data does not.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objection to any cross-bank claim is that banks cannot pool customer data. So the alert carries the least information that still lets a receiving bank 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669280" cy="3200400"/>
          </a:xfrm>
          <a:prstGeom prst="roundRect">
            <a:avLst>
              <a:gd name="adj" fmla="val 1714"/>
            </a:avLst>
          </a:prstGeom>
          <a:solidFill>
            <a:srgbClr val="0E1A24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account reference, salted per window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and score percentile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codes: CHAIN_DEPTH, FAST_EMPTY, DEVICE_REUSE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20840" y="2377440"/>
            <a:ext cx="47548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9E0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NEVER DOES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0" y="29718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any identifier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or transaction detail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list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4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transactions themselves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with no citable evidence is suppressed, not sent — 25 of 200 were dropped. A bank cannot act on an unexplained score.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not claim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0"/>
          </a:xfrm>
          <a:prstGeom prst="line">
            <a:avLst/>
          </a:prstGeom>
          <a:noFill/>
          <a:ln w="12700">
            <a:solidFill>
              <a:srgbClr val="D9E0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accuracy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920240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results are on simulated data. We show direction and structure, not a deployable number.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898648"/>
            <a:ext cx="10789920" cy="0"/>
          </a:xfrm>
          <a:prstGeom prst="line">
            <a:avLst/>
          </a:prstGeom>
          <a:noFill/>
          <a:ln w="12700">
            <a:solidFill>
              <a:srgbClr val="D9E0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we solved cross-bank data sharing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3035808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demonstrate what becomes possible if the network view exists. That is a policy argument as much as a technical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014216"/>
            <a:ext cx="10789920" cy="0"/>
          </a:xfrm>
          <a:prstGeom prst="line">
            <a:avLst/>
          </a:prstGeom>
          <a:noFill/>
          <a:ln w="12700">
            <a:solidFill>
              <a:srgbClr val="D9E0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over MuleHunter.AI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4151376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Innovation Hub already detects mules, and roughly 26 of 53 banks have adopted it. Our contribution is the unit of analysis, the timing, and the graded action.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129784"/>
            <a:ext cx="10789920" cy="0"/>
          </a:xfrm>
          <a:prstGeom prst="line">
            <a:avLst/>
          </a:prstGeom>
          <a:noFill/>
          <a:ln w="12700">
            <a:solidFill>
              <a:srgbClr val="D9E0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294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mules are criminals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5266944"/>
            <a:ext cx="6629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recruited students and low-income workers. That is precisely why the response is graded rather than punitive.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this slide is a strength. It pre-empts the hostile question and signals we know where the edges are.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mule layer and you break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 of every scam.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361188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172A36"/>
          </a:solidFill>
          <a:ln w="9525">
            <a:solidFill>
              <a:srgbClr val="2C45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427939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held in the layering window is a rupee a victim gets back. Recovery after cash-out is close to hopeless.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32" y="361188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172A36"/>
          </a:solidFill>
          <a:ln w="9525">
            <a:solidFill>
              <a:srgbClr val="2C45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45152" y="427939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supply is the bottleneck of the fraud economy. Shortening a mule account's usable life degrades every scam type at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55864" y="361188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172A36"/>
          </a:solidFill>
          <a:ln w="9525">
            <a:solidFill>
              <a:srgbClr val="2C45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0184" y="427939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with a graded response protects the recruited student who would otherwise be criminally liable for ₹3,000.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RBI's FREE-AI principles of Fairness, Explainability and Accountability.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Network-Level Mule Account Detection for UPI</dc:title>
  <dc:subject>PptxGenJS Presentation</dc:subject>
  <dc:creator>BUILD$BANK — YEL x IIT Delhi</dc:creator>
  <cp:lastModifiedBy>BUILD$BANK — YEL x IIT Delhi</cp:lastModifiedBy>
  <cp:revision>1</cp:revision>
  <dcterms:created xsi:type="dcterms:W3CDTF">2026-08-25T05:14:27Z</dcterms:created>
  <dcterms:modified xsi:type="dcterms:W3CDTF">2026-08-25T05:14:27Z</dcterms:modified>
</cp:coreProperties>
</file>